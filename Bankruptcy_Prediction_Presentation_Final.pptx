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2" r:id="rId1"/>
  </p:sldMasterIdLst>
  <p:sldIdLst>
    <p:sldId id="256" r:id="rId2"/>
    <p:sldId id="305" r:id="rId3"/>
    <p:sldId id="257" r:id="rId4"/>
    <p:sldId id="292" r:id="rId5"/>
    <p:sldId id="259" r:id="rId6"/>
    <p:sldId id="260" r:id="rId7"/>
    <p:sldId id="263" r:id="rId8"/>
    <p:sldId id="293" r:id="rId9"/>
    <p:sldId id="302" r:id="rId10"/>
    <p:sldId id="294" r:id="rId11"/>
    <p:sldId id="295" r:id="rId12"/>
    <p:sldId id="296" r:id="rId13"/>
    <p:sldId id="297" r:id="rId14"/>
    <p:sldId id="298" r:id="rId15"/>
    <p:sldId id="299" r:id="rId16"/>
    <p:sldId id="300" r:id="rId17"/>
    <p:sldId id="284" r:id="rId18"/>
    <p:sldId id="304" r:id="rId19"/>
    <p:sldId id="288" r:id="rId20"/>
    <p:sldId id="306" r:id="rId21"/>
    <p:sldId id="290" r:id="rId22"/>
    <p:sldId id="307" r:id="rId23"/>
    <p:sldId id="291" r:id="rId2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09" autoAdjust="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60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8539" y="2514601"/>
            <a:ext cx="8913077" cy="2262781"/>
          </a:xfrm>
        </p:spPr>
        <p:txBody>
          <a:bodyPr anchor="b">
            <a:normAutofit/>
          </a:bodyPr>
          <a:lstStyle>
            <a:lvl1pPr>
              <a:defRPr sz="53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8539" y="4777380"/>
            <a:ext cx="8913077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1"/>
            <a:ext cx="1744198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4529541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82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250" y="624110"/>
            <a:ext cx="8909366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8538" y="2133600"/>
            <a:ext cx="8913078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91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2058750"/>
            <a:ext cx="8913077" cy="1468800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3530129"/>
            <a:ext cx="8913077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31781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3244140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409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8538" y="2133600"/>
            <a:ext cx="4312741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88874" y="2126222"/>
            <a:ext cx="4312741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787783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391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8608" y="1972703"/>
            <a:ext cx="3991692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8538" y="2548966"/>
            <a:ext cx="4341762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4674" y="1969475"/>
            <a:ext cx="3997960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5091" y="2545738"/>
            <a:ext cx="433754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787783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48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71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344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446088"/>
            <a:ext cx="3504286" cy="976312"/>
          </a:xfrm>
        </p:spPr>
        <p:txBody>
          <a:bodyPr anchor="b"/>
          <a:lstStyle>
            <a:lvl1pPr algn="l">
              <a:defRPr sz="19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1365" y="446089"/>
            <a:ext cx="5180251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8" y="1598613"/>
            <a:ext cx="3504286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336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9" y="4800600"/>
            <a:ext cx="891307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8538" y="634965"/>
            <a:ext cx="8913078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367338"/>
            <a:ext cx="891307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99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609600"/>
            <a:ext cx="8913077" cy="3117040"/>
          </a:xfrm>
        </p:spPr>
        <p:txBody>
          <a:bodyPr anchor="ctr">
            <a:normAutofit/>
          </a:bodyPr>
          <a:lstStyle>
            <a:lvl1pPr algn="l">
              <a:defRPr sz="47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4354046"/>
            <a:ext cx="8913077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31781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3244140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63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207" y="609600"/>
            <a:ext cx="8391740" cy="2895600"/>
          </a:xfrm>
        </p:spPr>
        <p:txBody>
          <a:bodyPr anchor="ctr">
            <a:normAutofit/>
          </a:bodyPr>
          <a:lstStyle>
            <a:lvl1pPr algn="l">
              <a:defRPr sz="47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4159" y="3505200"/>
            <a:ext cx="7534591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4354046"/>
            <a:ext cx="8913077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7" y="31781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3244140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010" y="648005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1958" y="290530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0272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9" y="2438401"/>
            <a:ext cx="8913078" cy="2724845"/>
          </a:xfrm>
        </p:spPr>
        <p:txBody>
          <a:bodyPr anchor="b">
            <a:normAutofit/>
          </a:bodyPr>
          <a:lstStyle>
            <a:lvl1pPr algn="l">
              <a:defRPr sz="4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181600"/>
            <a:ext cx="8913078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908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207" y="609600"/>
            <a:ext cx="8391740" cy="2895600"/>
          </a:xfrm>
        </p:spPr>
        <p:txBody>
          <a:bodyPr anchor="ctr">
            <a:normAutofit/>
          </a:bodyPr>
          <a:lstStyle>
            <a:lvl1pPr algn="l">
              <a:defRPr sz="47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8538" y="4343400"/>
            <a:ext cx="8913078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181600"/>
            <a:ext cx="8913078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010" y="648005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1958" y="290530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7067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627407"/>
            <a:ext cx="8913077" cy="2880020"/>
          </a:xfrm>
        </p:spPr>
        <p:txBody>
          <a:bodyPr anchor="ctr">
            <a:normAutofit/>
          </a:bodyPr>
          <a:lstStyle>
            <a:lvl1pPr algn="l">
              <a:defRPr sz="4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8538" y="4343400"/>
            <a:ext cx="8913078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181600"/>
            <a:ext cx="8913078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3267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90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2392" y="627406"/>
            <a:ext cx="2207026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8538" y="627406"/>
            <a:ext cx="6475313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798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0773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14" y="-786"/>
            <a:ext cx="2356060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32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249" y="624110"/>
            <a:ext cx="8909366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2133600"/>
            <a:ext cx="8913078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58914" y="6130437"/>
            <a:ext cx="1145984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8538" y="6135809"/>
            <a:ext cx="76180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674" y="787783"/>
            <a:ext cx="77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99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475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</p:sldLayoutIdLst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371" y="435430"/>
            <a:ext cx="10870245" cy="2111828"/>
          </a:xfrm>
        </p:spPr>
        <p:txBody>
          <a:bodyPr>
            <a:normAutofit/>
          </a:bodyPr>
          <a:lstStyle/>
          <a:p>
            <a:pPr algn="ctr"/>
            <a:r>
              <a:rPr dirty="0"/>
              <a:t>🏦 Bankruptcy Prediction </a:t>
            </a:r>
            <a:r>
              <a:rPr lang="en-US" dirty="0"/>
              <a:t>U</a:t>
            </a:r>
            <a:r>
              <a:rPr dirty="0"/>
              <a:t>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77143" y="3114369"/>
            <a:ext cx="8322691" cy="480173"/>
          </a:xfrm>
        </p:spPr>
        <p:txBody>
          <a:bodyPr>
            <a:normAutofit/>
          </a:bodyPr>
          <a:lstStyle/>
          <a:p>
            <a:r>
              <a:rPr dirty="0"/>
              <a:t>By: Amit Choudhury  |  Organization: EXCELR  |  Course: Data Scientist</a:t>
            </a:r>
          </a:p>
          <a:p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C9A1B0-A7A4-41F6-B8FD-9FD4254EC6BD}"/>
              </a:ext>
            </a:extLst>
          </p:cNvPr>
          <p:cNvSpPr txBox="1"/>
          <p:nvPr/>
        </p:nvSpPr>
        <p:spPr>
          <a:xfrm>
            <a:off x="2838545" y="2534948"/>
            <a:ext cx="6767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A Machine Learning Approach for Financial Risk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5B7E7-18D4-409C-9111-3572CAA0F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0648" y="-3413"/>
            <a:ext cx="2750715" cy="75645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CONTENTS</a:t>
            </a:r>
            <a:br>
              <a:rPr lang="en-US" sz="3600" dirty="0">
                <a:ln w="0"/>
                <a:solidFill>
                  <a:schemeClr val="accent2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lgerian" panose="04020705040A02060702" pitchFamily="82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95999-542E-4916-A9A3-063D48FBD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1882" y="1237129"/>
            <a:ext cx="9439734" cy="4320989"/>
          </a:xfrm>
        </p:spPr>
        <p:txBody>
          <a:bodyPr>
            <a:normAutofit/>
          </a:bodyPr>
          <a:lstStyle/>
          <a:p>
            <a:r>
              <a:rPr lang="en-US" b="1" dirty="0"/>
              <a:t>Problem Statement &amp; Objective                                                                   Page - 03</a:t>
            </a:r>
          </a:p>
          <a:p>
            <a:r>
              <a:rPr lang="en-US" b="1" dirty="0"/>
              <a:t>Exploratory Data  Analysis (EDA)                                                        Page – 04 To 08</a:t>
            </a:r>
          </a:p>
          <a:p>
            <a:r>
              <a:rPr lang="en-US" b="1" dirty="0"/>
              <a:t>Model Building                                                                                      Page – 09 To 16                                                                                                                                            </a:t>
            </a:r>
          </a:p>
          <a:p>
            <a:r>
              <a:rPr lang="en-US" sz="1800" b="1" dirty="0"/>
              <a:t>Model Comparison</a:t>
            </a:r>
            <a:r>
              <a:rPr lang="en-US" b="1" dirty="0"/>
              <a:t>                                                                                        Page – 17</a:t>
            </a:r>
            <a:endParaRPr lang="en-US" sz="1800" b="1" dirty="0"/>
          </a:p>
          <a:p>
            <a:r>
              <a:rPr lang="en-US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Model Evaluation                                                                                            </a:t>
            </a:r>
            <a:r>
              <a:rPr lang="en-US" b="1" dirty="0"/>
              <a:t>Page – 18</a:t>
            </a:r>
            <a:endParaRPr lang="en-US" sz="1800" b="1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n-US" sz="1800" b="1" dirty="0"/>
              <a:t>Model Interpretation                                                                                      </a:t>
            </a:r>
            <a:r>
              <a:rPr lang="en-US" b="1" dirty="0"/>
              <a:t>Page – 19</a:t>
            </a:r>
            <a:endParaRPr lang="en-US" sz="1800" b="1" dirty="0"/>
          </a:p>
          <a:p>
            <a:r>
              <a:rPr lang="en-US" sz="1800" b="1" dirty="0">
                <a:latin typeface="Arial" panose="020B0604020202020204" pitchFamily="34" charset="0"/>
              </a:rPr>
              <a:t>Streamlit Dashboard Demo                                                                           </a:t>
            </a:r>
            <a:r>
              <a:rPr lang="en-US" b="1" dirty="0"/>
              <a:t>Page – 20</a:t>
            </a:r>
            <a:endParaRPr lang="en-US" sz="1800" b="1" dirty="0">
              <a:latin typeface="Arial" panose="020B0604020202020204" pitchFamily="34" charset="0"/>
            </a:endParaRPr>
          </a:p>
          <a:p>
            <a:r>
              <a:rPr lang="en-US" sz="1800" b="1" dirty="0"/>
              <a:t>Final  Conclusion                                                                                            </a:t>
            </a:r>
            <a:r>
              <a:rPr lang="en-US" b="1" dirty="0"/>
              <a:t>Page – 21</a:t>
            </a:r>
            <a:endParaRPr lang="en-US" sz="1800" b="1" dirty="0"/>
          </a:p>
          <a:p>
            <a:r>
              <a:rPr lang="en-US" b="1" dirty="0"/>
              <a:t>Future Scope                                                                                                   Page – 22           </a:t>
            </a:r>
            <a:br>
              <a:rPr lang="en-US" sz="1800" b="1" dirty="0"/>
            </a:b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577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890" y="252249"/>
            <a:ext cx="9836107" cy="746234"/>
          </a:xfrm>
        </p:spPr>
        <p:txBody>
          <a:bodyPr/>
          <a:lstStyle/>
          <a:p>
            <a:pPr algn="ctr"/>
            <a:r>
              <a:rPr lang="en-US" b="1" dirty="0"/>
              <a:t>Problem Statement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0924" y="1639614"/>
            <a:ext cx="11372193" cy="5218386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dirty="0"/>
              <a:t>Predict whether a company will go bankrupt using financial risk indicators.</a:t>
            </a:r>
          </a:p>
          <a:p>
            <a:pPr>
              <a:defRPr sz="1800"/>
            </a:pPr>
            <a:r>
              <a:rPr dirty="0"/>
              <a:t>Provide interpretable predictions to support financial decision-making.</a:t>
            </a:r>
            <a:r>
              <a:rPr lang="en-US" dirty="0"/>
              <a:t>                      </a:t>
            </a:r>
          </a:p>
          <a:p>
            <a:pPr>
              <a:defRPr sz="1800"/>
            </a:pPr>
            <a:r>
              <a:rPr lang="en-US" dirty="0"/>
              <a:t> The goal here is to model the probability that a business goes bankrupt from different features.   </a:t>
            </a:r>
          </a:p>
          <a:p>
            <a:pPr>
              <a:defRPr sz="1800"/>
            </a:pPr>
            <a:r>
              <a:rPr lang="en-US" dirty="0"/>
              <a:t> The data file contains 7 features about 250 companies    The data set includes the following variables:                    </a:t>
            </a:r>
          </a:p>
          <a:p>
            <a:pPr marL="0" indent="0">
              <a:buNone/>
              <a:defRPr sz="1800"/>
            </a:pPr>
            <a:r>
              <a:rPr lang="en-US" dirty="0"/>
              <a:t>     1.Industrial_risk: 0=low risk, 0.5=medium risk, 1=high risk.    </a:t>
            </a:r>
          </a:p>
          <a:p>
            <a:pPr marL="0" indent="0">
              <a:buNone/>
              <a:defRPr sz="1800"/>
            </a:pPr>
            <a:r>
              <a:rPr lang="en-US" dirty="0"/>
              <a:t>     2.Management_risk: 0=low risk, 0.5=medium risk, 1=high risk.    </a:t>
            </a:r>
          </a:p>
          <a:p>
            <a:pPr marL="0" indent="0">
              <a:buNone/>
              <a:defRPr sz="1800"/>
            </a:pPr>
            <a:r>
              <a:rPr lang="en-US" dirty="0"/>
              <a:t>     3. Financial flexibility: 0=low flexibility, 0.5=medium flexibility, 1=high flexibility.    </a:t>
            </a:r>
          </a:p>
          <a:p>
            <a:pPr marL="0" indent="0">
              <a:buNone/>
              <a:defRPr sz="1800"/>
            </a:pPr>
            <a:r>
              <a:rPr lang="en-US" dirty="0"/>
              <a:t>     4.Credibility: 0=low credibility, 0.5=medium credibility, 1=high credibility.   </a:t>
            </a:r>
          </a:p>
          <a:p>
            <a:pPr marL="0" indent="0">
              <a:buNone/>
              <a:defRPr sz="1800"/>
            </a:pPr>
            <a:r>
              <a:rPr lang="en-US" dirty="0"/>
              <a:t>     5.Competitiveness: 0=low competitiveness, 0.5=medium competitiveness, 1=high competitiveness.   </a:t>
            </a:r>
          </a:p>
          <a:p>
            <a:pPr marL="0" indent="0">
              <a:buNone/>
              <a:defRPr sz="1800"/>
            </a:pPr>
            <a:r>
              <a:rPr lang="en-US" dirty="0"/>
              <a:t>     6.Operating_risk: 0=low risk, 0.5=medium risk, 1=high risk.    </a:t>
            </a:r>
          </a:p>
          <a:p>
            <a:pPr marL="0" indent="0">
              <a:buNone/>
              <a:defRPr sz="1800"/>
            </a:pPr>
            <a:r>
              <a:rPr lang="en-US" dirty="0"/>
              <a:t>     7.Class: bankruptcy , non-bankruptcy (target variable).</a:t>
            </a:r>
            <a:br>
              <a:rPr lang="en-US" dirty="0"/>
            </a:br>
            <a:r>
              <a:rPr lang="en-US" dirty="0"/>
              <a:t>      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9BA4F-7406-4C59-AC77-A557EB8FF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4229" y="2960914"/>
            <a:ext cx="8436428" cy="1219199"/>
          </a:xfrm>
        </p:spPr>
        <p:txBody>
          <a:bodyPr/>
          <a:lstStyle/>
          <a:p>
            <a:r>
              <a:rPr lang="en-US" b="1" dirty="0"/>
              <a:t>Exploratory Data  Analysis (EDA)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3543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254" y="189187"/>
            <a:ext cx="4750674" cy="523220"/>
          </a:xfrm>
        </p:spPr>
        <p:txBody>
          <a:bodyPr>
            <a:noAutofit/>
          </a:bodyPr>
          <a:lstStyle/>
          <a:p>
            <a:r>
              <a:rPr lang="en-US" sz="1800" b="1" dirty="0"/>
              <a:t>Bankruptcy vs Non-Bankruptcy (Counts)</a:t>
            </a:r>
            <a:endParaRPr sz="18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41436" y="1200987"/>
            <a:ext cx="59661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lang="en-US" sz="1400" dirty="0"/>
              <a:t>✅ Class Distribution → More Non-Bankrupt Companies (Imbalanced Dataset)</a:t>
            </a:r>
            <a:endParaRPr sz="1600" dirty="0"/>
          </a:p>
        </p:txBody>
      </p:sp>
      <p:pic>
        <p:nvPicPr>
          <p:cNvPr id="6" name="Picture 5" descr="graph_1.png">
            <a:extLst>
              <a:ext uri="{FF2B5EF4-FFF2-40B4-BE49-F238E27FC236}">
                <a16:creationId xmlns:a16="http://schemas.microsoft.com/office/drawing/2014/main" id="{D9C8821F-3DC1-43FC-80EE-E8E475CB2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435" y="1991893"/>
            <a:ext cx="5615906" cy="4592838"/>
          </a:xfrm>
          <a:prstGeom prst="rect">
            <a:avLst/>
          </a:prstGeom>
        </p:spPr>
      </p:pic>
      <p:pic>
        <p:nvPicPr>
          <p:cNvPr id="11" name="Picture 10" descr="graph_2.png">
            <a:extLst>
              <a:ext uri="{FF2B5EF4-FFF2-40B4-BE49-F238E27FC236}">
                <a16:creationId xmlns:a16="http://schemas.microsoft.com/office/drawing/2014/main" id="{B71B7D54-C63F-4C62-A47F-C469E4D82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563" y="2102544"/>
            <a:ext cx="5508171" cy="4482186"/>
          </a:xfrm>
          <a:prstGeom prst="rect">
            <a:avLst/>
          </a:prstGeom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35F87F43-88A0-426A-94AF-C5EF7AED2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169" y="1045812"/>
            <a:ext cx="5459566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400" dirty="0"/>
              <a:t>✅ Subplots → Show value distribution (0, 0.5, 1) for each feature, helping identify balanced or skewed data (e.g., many 0s = low variability)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3E467A7-7FC4-4DF1-A483-13272361DB60}"/>
              </a:ext>
            </a:extLst>
          </p:cNvPr>
          <p:cNvSpPr txBox="1">
            <a:spLocks/>
          </p:cNvSpPr>
          <p:nvPr/>
        </p:nvSpPr>
        <p:spPr>
          <a:xfrm>
            <a:off x="6519230" y="173428"/>
            <a:ext cx="5449054" cy="8092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3599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800" b="1" dirty="0"/>
              <a:t>Feature Distribution Across All Variables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EAD3FC1-68BA-4322-8208-D2B5E1C64EAF}"/>
              </a:ext>
            </a:extLst>
          </p:cNvPr>
          <p:cNvCxnSpPr/>
          <p:nvPr/>
        </p:nvCxnSpPr>
        <p:spPr>
          <a:xfrm>
            <a:off x="5328740" y="252468"/>
            <a:ext cx="0" cy="2953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C53B1F7-5CD7-4877-87FC-773250119154}"/>
              </a:ext>
            </a:extLst>
          </p:cNvPr>
          <p:cNvCxnSpPr/>
          <p:nvPr/>
        </p:nvCxnSpPr>
        <p:spPr>
          <a:xfrm>
            <a:off x="11025353" y="185147"/>
            <a:ext cx="0" cy="324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4792" y="178674"/>
            <a:ext cx="4790894" cy="609602"/>
          </a:xfrm>
        </p:spPr>
        <p:txBody>
          <a:bodyPr>
            <a:normAutofit/>
          </a:bodyPr>
          <a:lstStyle/>
          <a:p>
            <a:r>
              <a:rPr lang="en-US" sz="1800" b="1" dirty="0"/>
              <a:t>Feature Distribution by Bankruptcy Class</a:t>
            </a:r>
            <a:endParaRPr sz="1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52248" y="1369041"/>
            <a:ext cx="596987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rPr lang="en-US" sz="1400" dirty="0"/>
              <a:t>✅ Bar Plots → Compare feature distributions between bankrupt &amp; non-bankrupt companies, highlighting key predictors where value differences are clear</a:t>
            </a:r>
            <a:endParaRPr sz="1400" dirty="0"/>
          </a:p>
        </p:txBody>
      </p:sp>
      <p:pic>
        <p:nvPicPr>
          <p:cNvPr id="6" name="Picture 5" descr="graph_3.png">
            <a:extLst>
              <a:ext uri="{FF2B5EF4-FFF2-40B4-BE49-F238E27FC236}">
                <a16:creationId xmlns:a16="http://schemas.microsoft.com/office/drawing/2014/main" id="{DA54469E-27CD-494E-9AED-EB7527BF1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48" y="2236827"/>
            <a:ext cx="5969876" cy="433468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E71251-FABB-4B4C-B67E-544BC554E3A5}"/>
              </a:ext>
            </a:extLst>
          </p:cNvPr>
          <p:cNvCxnSpPr/>
          <p:nvPr/>
        </p:nvCxnSpPr>
        <p:spPr>
          <a:xfrm>
            <a:off x="5097538" y="230953"/>
            <a:ext cx="0" cy="315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831F979-8992-4630-9A42-4D031C81E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2124" y="2183525"/>
            <a:ext cx="5813629" cy="43879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022EB27-D43F-4EFF-BCF4-09A33200FE1F}"/>
              </a:ext>
            </a:extLst>
          </p:cNvPr>
          <p:cNvSpPr txBox="1"/>
          <p:nvPr/>
        </p:nvSpPr>
        <p:spPr>
          <a:xfrm>
            <a:off x="6374508" y="1376853"/>
            <a:ext cx="56808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lang="en-US" sz="1400" dirty="0"/>
              <a:t>✅ Feature Distribution → Shows how financial features differ between bankrupt &amp; non-bankrupt firms (e.g., higher median risk for bankrupt firms = strong predictor)</a:t>
            </a:r>
            <a:endParaRPr sz="14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D043354-8C12-4615-B261-F261C1E827B6}"/>
              </a:ext>
            </a:extLst>
          </p:cNvPr>
          <p:cNvSpPr txBox="1">
            <a:spLocks/>
          </p:cNvSpPr>
          <p:nvPr/>
        </p:nvSpPr>
        <p:spPr>
          <a:xfrm>
            <a:off x="6563845" y="184362"/>
            <a:ext cx="4230282" cy="5723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063" rtl="0" eaLnBrk="1" latinLnBrk="0" hangingPunct="1">
              <a:spcBef>
                <a:spcPct val="0"/>
              </a:spcBef>
              <a:buNone/>
              <a:defRPr sz="3599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1800" b="1" dirty="0"/>
              <a:t>Boxplots of All Features by Class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F7B68A-6673-46CA-883C-3AF1D68038D7}"/>
              </a:ext>
            </a:extLst>
          </p:cNvPr>
          <p:cNvCxnSpPr>
            <a:cxnSpLocks/>
          </p:cNvCxnSpPr>
          <p:nvPr/>
        </p:nvCxnSpPr>
        <p:spPr>
          <a:xfrm>
            <a:off x="10258100" y="276842"/>
            <a:ext cx="0" cy="287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9825" y="338453"/>
            <a:ext cx="4568963" cy="420414"/>
          </a:xfrm>
        </p:spPr>
        <p:txBody>
          <a:bodyPr>
            <a:normAutofit/>
          </a:bodyPr>
          <a:lstStyle/>
          <a:p>
            <a:r>
              <a:rPr lang="en-US" sz="1800" b="1" dirty="0"/>
              <a:t>Feature Correlation (Including Target)</a:t>
            </a:r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283781" y="1348328"/>
            <a:ext cx="581063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lang="en-US" sz="1400" dirty="0"/>
              <a:t>✅ Correlation Heatmap → Shows feature relationships with bankruptcy (high positive = risk indicators, negative = stability), aiding key feature selection</a:t>
            </a:r>
            <a:endParaRPr sz="1400" dirty="0"/>
          </a:p>
        </p:txBody>
      </p:sp>
      <p:pic>
        <p:nvPicPr>
          <p:cNvPr id="6" name="Picture 5" descr="graph_17.png">
            <a:extLst>
              <a:ext uri="{FF2B5EF4-FFF2-40B4-BE49-F238E27FC236}">
                <a16:creationId xmlns:a16="http://schemas.microsoft.com/office/drawing/2014/main" id="{C6D09ED9-9218-474B-8861-22EBA1ECA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26" y="2255966"/>
            <a:ext cx="5502195" cy="445638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2D7868D-21F8-4C41-BEAE-86786FF9A1F3}"/>
              </a:ext>
            </a:extLst>
          </p:cNvPr>
          <p:cNvCxnSpPr/>
          <p:nvPr/>
        </p:nvCxnSpPr>
        <p:spPr>
          <a:xfrm>
            <a:off x="4691765" y="392336"/>
            <a:ext cx="0" cy="347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graph_18.png">
            <a:extLst>
              <a:ext uri="{FF2B5EF4-FFF2-40B4-BE49-F238E27FC236}">
                <a16:creationId xmlns:a16="http://schemas.microsoft.com/office/drawing/2014/main" id="{D406ADE3-DEF1-4A1A-B34D-021EA8B25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731" y="2255966"/>
            <a:ext cx="6156268" cy="445638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830AE73-C63B-4606-BC72-4DFDB6DBD5E4}"/>
              </a:ext>
            </a:extLst>
          </p:cNvPr>
          <p:cNvSpPr txBox="1"/>
          <p:nvPr/>
        </p:nvSpPr>
        <p:spPr>
          <a:xfrm>
            <a:off x="6010026" y="1363715"/>
            <a:ext cx="589501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lang="en-US" sz="1400" dirty="0"/>
              <a:t>✅ </a:t>
            </a:r>
            <a:r>
              <a:rPr lang="en-US" sz="1400" dirty="0" err="1"/>
              <a:t>Pairplot</a:t>
            </a:r>
            <a:r>
              <a:rPr lang="en-US" sz="1400" dirty="0"/>
              <a:t> → Visualizes relationships among top 6 predictive features; clear color clusters show strong feature separation between bankrupt &amp; non-bankrupt firms</a:t>
            </a:r>
          </a:p>
          <a:p>
            <a:pPr>
              <a:defRPr sz="1200"/>
            </a:pPr>
            <a:r>
              <a:rPr lang="en-US" sz="1400" b="1" dirty="0"/>
              <a:t>.</a:t>
            </a:r>
            <a:endParaRPr sz="1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CED0BB-07CB-46BC-A50A-DBE3378E66F1}"/>
              </a:ext>
            </a:extLst>
          </p:cNvPr>
          <p:cNvSpPr txBox="1"/>
          <p:nvPr/>
        </p:nvSpPr>
        <p:spPr>
          <a:xfrm>
            <a:off x="6032928" y="366368"/>
            <a:ext cx="45689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+mj-lt"/>
              </a:rPr>
              <a:t>Pairwise Relationship of Top Predictors</a:t>
            </a:r>
            <a:endParaRPr lang="en-US" dirty="0">
              <a:latin typeface="+mj-lt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7C4ACD2-847F-4B95-A8B5-29CF9FE330F4}"/>
              </a:ext>
            </a:extLst>
          </p:cNvPr>
          <p:cNvCxnSpPr/>
          <p:nvPr/>
        </p:nvCxnSpPr>
        <p:spPr>
          <a:xfrm>
            <a:off x="10362077" y="397592"/>
            <a:ext cx="0" cy="347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F607A-D8AD-484F-93AA-9ACE8EA40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896" y="168169"/>
            <a:ext cx="5208516" cy="705945"/>
          </a:xfrm>
        </p:spPr>
        <p:txBody>
          <a:bodyPr>
            <a:noAutofit/>
          </a:bodyPr>
          <a:lstStyle/>
          <a:p>
            <a:r>
              <a:rPr lang="en-US" sz="1300" dirty="0"/>
              <a:t>✅ Coefficient Table → Displays each financial factor’s impact on bankruptcy (positive = higher risk, negative = lower risk)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8F5116-0756-493A-A0F8-44B5A68510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108" y="3910533"/>
            <a:ext cx="5101079" cy="27497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A57E7B-EC4D-46F1-A944-6AA0FF36B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96" y="4025770"/>
            <a:ext cx="5208516" cy="26640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D39795-E4BA-44E9-A0D8-4FDE3C538A2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970"/>
          <a:stretch/>
        </p:blipFill>
        <p:spPr>
          <a:xfrm>
            <a:off x="6274677" y="835185"/>
            <a:ext cx="5365510" cy="23152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DBEF941-6470-453E-84CC-3E9D6BBCBD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96" y="788016"/>
            <a:ext cx="5208516" cy="23624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1F2314-A4E5-41DA-9AF5-3023554F6540}"/>
              </a:ext>
            </a:extLst>
          </p:cNvPr>
          <p:cNvSpPr txBox="1"/>
          <p:nvPr/>
        </p:nvSpPr>
        <p:spPr>
          <a:xfrm>
            <a:off x="6274677" y="168169"/>
            <a:ext cx="5463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✅ VIF Table → Shows multicollinearity among features (high VIF = redundant information that can reduce model stability)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E5AB2B-3E28-45F7-B8F3-CE0147711C18}"/>
              </a:ext>
            </a:extLst>
          </p:cNvPr>
          <p:cNvSpPr txBox="1"/>
          <p:nvPr/>
        </p:nvSpPr>
        <p:spPr>
          <a:xfrm>
            <a:off x="885897" y="3226676"/>
            <a:ext cx="52085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✅ Chi-Squared Test → Evaluates feature relevance to bankruptcy (high Chi² &amp; low p-value = strong predictive influence)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761551-0299-4EA5-B3CA-DAF0E2AF9DF1}"/>
              </a:ext>
            </a:extLst>
          </p:cNvPr>
          <p:cNvSpPr txBox="1"/>
          <p:nvPr/>
        </p:nvSpPr>
        <p:spPr>
          <a:xfrm>
            <a:off x="6442841" y="3247698"/>
            <a:ext cx="506598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✅ Logistic Regression Coefficients → Identify financial factors with the strongest influence on bankruptcy prediction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8324AC7-CE88-470F-B7DA-A7E44A2A1FE3}"/>
              </a:ext>
            </a:extLst>
          </p:cNvPr>
          <p:cNvCxnSpPr/>
          <p:nvPr/>
        </p:nvCxnSpPr>
        <p:spPr>
          <a:xfrm>
            <a:off x="6011916" y="241739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510150A-9020-49F8-A2CC-CFD64205DEBE}"/>
              </a:ext>
            </a:extLst>
          </p:cNvPr>
          <p:cNvCxnSpPr/>
          <p:nvPr/>
        </p:nvCxnSpPr>
        <p:spPr>
          <a:xfrm>
            <a:off x="11640187" y="257507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F760C65-AFEF-4BC4-978D-A6FEB0306DE0}"/>
              </a:ext>
            </a:extLst>
          </p:cNvPr>
          <p:cNvCxnSpPr/>
          <p:nvPr/>
        </p:nvCxnSpPr>
        <p:spPr>
          <a:xfrm>
            <a:off x="5806968" y="3347536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A056343-B7D6-4DE7-B485-2D7178140B09}"/>
              </a:ext>
            </a:extLst>
          </p:cNvPr>
          <p:cNvCxnSpPr/>
          <p:nvPr/>
        </p:nvCxnSpPr>
        <p:spPr>
          <a:xfrm>
            <a:off x="11324876" y="3358054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3599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7B72B-FDB2-4730-8C24-9BB2C4356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3117" y="2785241"/>
            <a:ext cx="4529959" cy="1639614"/>
          </a:xfrm>
        </p:spPr>
        <p:txBody>
          <a:bodyPr/>
          <a:lstStyle/>
          <a:p>
            <a:r>
              <a:rPr lang="en-US" b="1" dirty="0"/>
              <a:t>Model Building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520AAE6-2B8D-4836-8864-512C5D461D2B}"/>
              </a:ext>
            </a:extLst>
          </p:cNvPr>
          <p:cNvCxnSpPr>
            <a:cxnSpLocks/>
          </p:cNvCxnSpPr>
          <p:nvPr/>
        </p:nvCxnSpPr>
        <p:spPr>
          <a:xfrm>
            <a:off x="7819697" y="2975404"/>
            <a:ext cx="0" cy="386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630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09EDE-0F85-489D-B0E4-93D91C8D6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4010" y="14519"/>
            <a:ext cx="6495397" cy="731715"/>
          </a:xfrm>
        </p:spPr>
        <p:txBody>
          <a:bodyPr>
            <a:normAutofit/>
          </a:bodyPr>
          <a:lstStyle/>
          <a:p>
            <a:r>
              <a:rPr lang="en-US" sz="2800" b="1" dirty="0"/>
              <a:t>Logistic Regression Model Evaluation</a:t>
            </a:r>
          </a:p>
        </p:txBody>
      </p:sp>
      <p:pic>
        <p:nvPicPr>
          <p:cNvPr id="3" name="Picture 2" descr="graph_20.png">
            <a:extLst>
              <a:ext uri="{FF2B5EF4-FFF2-40B4-BE49-F238E27FC236}">
                <a16:creationId xmlns:a16="http://schemas.microsoft.com/office/drawing/2014/main" id="{F9E01636-4985-4FC6-9A35-6FCC0B702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830" y="4247311"/>
            <a:ext cx="4980670" cy="2503710"/>
          </a:xfrm>
          <a:prstGeom prst="rect">
            <a:avLst/>
          </a:prstGeom>
        </p:spPr>
      </p:pic>
      <p:pic>
        <p:nvPicPr>
          <p:cNvPr id="4" name="Picture 3" descr="graph_21.png">
            <a:extLst>
              <a:ext uri="{FF2B5EF4-FFF2-40B4-BE49-F238E27FC236}">
                <a16:creationId xmlns:a16="http://schemas.microsoft.com/office/drawing/2014/main" id="{DA97B4B7-4C9C-49CE-B7B3-F2BBCC321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6325" y="2119995"/>
            <a:ext cx="5345289" cy="2013733"/>
          </a:xfrm>
          <a:prstGeom prst="rect">
            <a:avLst/>
          </a:prstGeom>
        </p:spPr>
      </p:pic>
      <p:pic>
        <p:nvPicPr>
          <p:cNvPr id="5" name="Picture 4" descr="graph_22.png">
            <a:extLst>
              <a:ext uri="{FF2B5EF4-FFF2-40B4-BE49-F238E27FC236}">
                <a16:creationId xmlns:a16="http://schemas.microsoft.com/office/drawing/2014/main" id="{5C65417F-5719-4909-A7B8-99DEB7B56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4235566"/>
            <a:ext cx="5253214" cy="2527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CB064C-E794-4A27-A123-459B9DB905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830" y="1929309"/>
            <a:ext cx="5171170" cy="220441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9749CD-0FE3-404D-A06E-97335FA50C72}"/>
              </a:ext>
            </a:extLst>
          </p:cNvPr>
          <p:cNvSpPr txBox="1"/>
          <p:nvPr/>
        </p:nvSpPr>
        <p:spPr>
          <a:xfrm>
            <a:off x="1608082" y="746234"/>
            <a:ext cx="98935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✅ Logistic Regression → High accuracy &amp; strong AUC; balanced predictions; key factors — Management &amp; Operating Risk ↑ bankruptcy, Credibility &amp; Competitiveness ↓ bankruptcy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B73C119-14D0-41BD-B25F-BB5A8EE86E4E}"/>
              </a:ext>
            </a:extLst>
          </p:cNvPr>
          <p:cNvCxnSpPr>
            <a:cxnSpLocks/>
          </p:cNvCxnSpPr>
          <p:nvPr/>
        </p:nvCxnSpPr>
        <p:spPr>
          <a:xfrm>
            <a:off x="9154512" y="158644"/>
            <a:ext cx="0" cy="3869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626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5A804-BDF0-4EF9-83ED-BE5BD3521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083" y="624110"/>
            <a:ext cx="9893532" cy="1280890"/>
          </a:xfrm>
        </p:spPr>
        <p:txBody>
          <a:bodyPr>
            <a:noAutofit/>
          </a:bodyPr>
          <a:lstStyle/>
          <a:p>
            <a:r>
              <a:rPr lang="en-US" sz="1800" dirty="0"/>
              <a:t>✅ Decision Tree → Strong accuracy &amp; clear class separation; balanced predictions; key factors — Management &amp; Operating Risk ↑ bankruptcy, Credibility &amp; Competitiveness ↓ bankruptcy</a:t>
            </a:r>
            <a:endParaRPr lang="en-US" sz="3600" dirty="0"/>
          </a:p>
        </p:txBody>
      </p:sp>
      <p:pic>
        <p:nvPicPr>
          <p:cNvPr id="3" name="Picture 2" descr="graph_23.png">
            <a:extLst>
              <a:ext uri="{FF2B5EF4-FFF2-40B4-BE49-F238E27FC236}">
                <a16:creationId xmlns:a16="http://schemas.microsoft.com/office/drawing/2014/main" id="{B004F9C6-D01E-4889-AE9C-021D954463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210" y="4064000"/>
            <a:ext cx="5046876" cy="2470150"/>
          </a:xfrm>
          <a:prstGeom prst="rect">
            <a:avLst/>
          </a:prstGeom>
        </p:spPr>
      </p:pic>
      <p:pic>
        <p:nvPicPr>
          <p:cNvPr id="4" name="Picture 3" descr="graph_24.png">
            <a:extLst>
              <a:ext uri="{FF2B5EF4-FFF2-40B4-BE49-F238E27FC236}">
                <a16:creationId xmlns:a16="http://schemas.microsoft.com/office/drawing/2014/main" id="{65D13100-920F-42A2-993A-FF60C6AF6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0" y="1924050"/>
            <a:ext cx="5202415" cy="2470150"/>
          </a:xfrm>
          <a:prstGeom prst="rect">
            <a:avLst/>
          </a:prstGeom>
        </p:spPr>
      </p:pic>
      <p:pic>
        <p:nvPicPr>
          <p:cNvPr id="5" name="Picture 4" descr="graph_25.png">
            <a:extLst>
              <a:ext uri="{FF2B5EF4-FFF2-40B4-BE49-F238E27FC236}">
                <a16:creationId xmlns:a16="http://schemas.microsoft.com/office/drawing/2014/main" id="{1B52A42B-2258-468D-8CA1-D63E296CF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4900" y="4521200"/>
            <a:ext cx="5316716" cy="20129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036DE6-ECD8-4C77-82F7-F1E700880F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211" y="1968499"/>
            <a:ext cx="5046876" cy="201295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D09686-5060-4367-ADC6-5AF0D0EA3FD6}"/>
              </a:ext>
            </a:extLst>
          </p:cNvPr>
          <p:cNvSpPr txBox="1"/>
          <p:nvPr/>
        </p:nvSpPr>
        <p:spPr>
          <a:xfrm>
            <a:off x="4424855" y="105103"/>
            <a:ext cx="5181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Decision Tree Classifier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AA95180-934D-4D59-AD12-60B1150078F7}"/>
              </a:ext>
            </a:extLst>
          </p:cNvPr>
          <p:cNvCxnSpPr>
            <a:cxnSpLocks/>
          </p:cNvCxnSpPr>
          <p:nvPr/>
        </p:nvCxnSpPr>
        <p:spPr>
          <a:xfrm>
            <a:off x="7998377" y="207757"/>
            <a:ext cx="0" cy="351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6938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791A-AE49-4BE9-BCF3-5489DB733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468" y="25025"/>
            <a:ext cx="3894277" cy="595090"/>
          </a:xfrm>
        </p:spPr>
        <p:txBody>
          <a:bodyPr>
            <a:normAutofit/>
          </a:bodyPr>
          <a:lstStyle/>
          <a:p>
            <a:r>
              <a:rPr lang="en-US" sz="2400" b="1" dirty="0"/>
              <a:t>Random Forest Classifier</a:t>
            </a:r>
          </a:p>
        </p:txBody>
      </p:sp>
      <p:pic>
        <p:nvPicPr>
          <p:cNvPr id="3" name="Picture 2" descr="graph_26.png">
            <a:extLst>
              <a:ext uri="{FF2B5EF4-FFF2-40B4-BE49-F238E27FC236}">
                <a16:creationId xmlns:a16="http://schemas.microsoft.com/office/drawing/2014/main" id="{397609C4-53D9-485C-95B5-7B810E7653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467" y="3871913"/>
            <a:ext cx="5297450" cy="2693987"/>
          </a:xfrm>
          <a:prstGeom prst="rect">
            <a:avLst/>
          </a:prstGeom>
        </p:spPr>
      </p:pic>
      <p:pic>
        <p:nvPicPr>
          <p:cNvPr id="4" name="Picture 3" descr="graph_27.png">
            <a:extLst>
              <a:ext uri="{FF2B5EF4-FFF2-40B4-BE49-F238E27FC236}">
                <a16:creationId xmlns:a16="http://schemas.microsoft.com/office/drawing/2014/main" id="{3817A2B5-F2D3-4C7D-9FB1-A10FEB3D6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2" y="1466614"/>
            <a:ext cx="5640388" cy="2311519"/>
          </a:xfrm>
          <a:prstGeom prst="rect">
            <a:avLst/>
          </a:prstGeom>
        </p:spPr>
      </p:pic>
      <p:pic>
        <p:nvPicPr>
          <p:cNvPr id="6" name="Picture 5" descr="graph_28.png">
            <a:extLst>
              <a:ext uri="{FF2B5EF4-FFF2-40B4-BE49-F238E27FC236}">
                <a16:creationId xmlns:a16="http://schemas.microsoft.com/office/drawing/2014/main" id="{C25E7561-560E-41F0-AFF6-9045E0D9B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10" y="3900488"/>
            <a:ext cx="5640389" cy="26654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F11E53-D802-40CC-B2B9-748913B9A0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467" y="1495307"/>
            <a:ext cx="4987833" cy="231151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8F9E23D-ACB1-41F3-AE17-A15BBD13A490}"/>
              </a:ext>
            </a:extLst>
          </p:cNvPr>
          <p:cNvCxnSpPr/>
          <p:nvPr/>
        </p:nvCxnSpPr>
        <p:spPr>
          <a:xfrm>
            <a:off x="7683064" y="119617"/>
            <a:ext cx="0" cy="342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972096B-5D5D-4123-9A21-8EA2CD46FE45}"/>
              </a:ext>
            </a:extLst>
          </p:cNvPr>
          <p:cNvSpPr txBox="1"/>
          <p:nvPr/>
        </p:nvSpPr>
        <p:spPr>
          <a:xfrm>
            <a:off x="1723699" y="515008"/>
            <a:ext cx="99375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✅ Random Forest → High accuracy &amp; strong AUC; reliable predictions; key factors — Management &amp; Operating Risk ↑ bankruptcy, Credibility &amp; Competitiveness ↓ bankruptcy</a:t>
            </a:r>
          </a:p>
        </p:txBody>
      </p:sp>
    </p:spTree>
    <p:extLst>
      <p:ext uri="{BB962C8B-B14F-4D97-AF65-F5344CB8AC3E}">
        <p14:creationId xmlns:p14="http://schemas.microsoft.com/office/powerpoint/2010/main" val="28406235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7FCB4-8266-49FD-89BF-E44E5F0CF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3374" y="56561"/>
            <a:ext cx="5174898" cy="616101"/>
          </a:xfrm>
        </p:spPr>
        <p:txBody>
          <a:bodyPr>
            <a:normAutofit/>
          </a:bodyPr>
          <a:lstStyle/>
          <a:p>
            <a:r>
              <a:rPr lang="en-US" sz="2400" b="1" dirty="0"/>
              <a:t>Support Vector Machine (SVM)</a:t>
            </a:r>
            <a:endParaRPr lang="en-US" sz="2400" dirty="0"/>
          </a:p>
        </p:txBody>
      </p:sp>
      <p:pic>
        <p:nvPicPr>
          <p:cNvPr id="3" name="Picture 2" descr="graph_29.png">
            <a:extLst>
              <a:ext uri="{FF2B5EF4-FFF2-40B4-BE49-F238E27FC236}">
                <a16:creationId xmlns:a16="http://schemas.microsoft.com/office/drawing/2014/main" id="{25A18DA9-9927-49D0-8E40-B6AB647196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283" y="1905001"/>
            <a:ext cx="5626331" cy="4604800"/>
          </a:xfrm>
          <a:prstGeom prst="rect">
            <a:avLst/>
          </a:prstGeom>
        </p:spPr>
      </p:pic>
      <p:pic>
        <p:nvPicPr>
          <p:cNvPr id="4" name="Picture 3" descr="graph_30.png">
            <a:extLst>
              <a:ext uri="{FF2B5EF4-FFF2-40B4-BE49-F238E27FC236}">
                <a16:creationId xmlns:a16="http://schemas.microsoft.com/office/drawing/2014/main" id="{475185EB-643E-4C11-A849-0E454DFD8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89" y="4209513"/>
            <a:ext cx="4556134" cy="23002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24A42A-268F-499F-9DBD-D0AA002EDA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389" y="1904999"/>
            <a:ext cx="4556135" cy="23045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6189F8-A78A-4130-9439-A2183F437258}"/>
              </a:ext>
            </a:extLst>
          </p:cNvPr>
          <p:cNvSpPr txBox="1"/>
          <p:nvPr/>
        </p:nvSpPr>
        <p:spPr>
          <a:xfrm>
            <a:off x="1629103" y="672662"/>
            <a:ext cx="98725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✅ SVM → Good accuracy &amp; strong AUC; balanced classification; The ROC curve shows solid separation between bankrupt &amp; non-bankrupt firms using optimal decision boundary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6190BD7-B4A3-4E17-AE9F-335231E3ABDE}"/>
              </a:ext>
            </a:extLst>
          </p:cNvPr>
          <p:cNvCxnSpPr/>
          <p:nvPr/>
        </p:nvCxnSpPr>
        <p:spPr>
          <a:xfrm>
            <a:off x="7924800" y="157657"/>
            <a:ext cx="0" cy="294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601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5868D-B4ED-4D43-8D6F-0CA271C2A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1235" y="46047"/>
            <a:ext cx="4815490" cy="605594"/>
          </a:xfrm>
        </p:spPr>
        <p:txBody>
          <a:bodyPr>
            <a:normAutofit/>
          </a:bodyPr>
          <a:lstStyle/>
          <a:p>
            <a:r>
              <a:rPr lang="en-US" sz="2400" b="1" dirty="0"/>
              <a:t>K-Nearest Neighbors (KNN)</a:t>
            </a:r>
          </a:p>
        </p:txBody>
      </p:sp>
      <p:pic>
        <p:nvPicPr>
          <p:cNvPr id="3" name="Picture 2" descr="graph_31.png">
            <a:extLst>
              <a:ext uri="{FF2B5EF4-FFF2-40B4-BE49-F238E27FC236}">
                <a16:creationId xmlns:a16="http://schemas.microsoft.com/office/drawing/2014/main" id="{E559BE75-139F-42EE-A0DC-F8E281B73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90" y="4071296"/>
            <a:ext cx="4815490" cy="2525106"/>
          </a:xfrm>
          <a:prstGeom prst="rect">
            <a:avLst/>
          </a:prstGeom>
        </p:spPr>
      </p:pic>
      <p:pic>
        <p:nvPicPr>
          <p:cNvPr id="4" name="Picture 3" descr="graph_32.png">
            <a:extLst>
              <a:ext uri="{FF2B5EF4-FFF2-40B4-BE49-F238E27FC236}">
                <a16:creationId xmlns:a16="http://schemas.microsoft.com/office/drawing/2014/main" id="{C6A7A136-7EE2-4993-B409-99D2A299E4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2" y="1636372"/>
            <a:ext cx="5301639" cy="2310947"/>
          </a:xfrm>
          <a:prstGeom prst="rect">
            <a:avLst/>
          </a:prstGeom>
        </p:spPr>
      </p:pic>
      <p:pic>
        <p:nvPicPr>
          <p:cNvPr id="5" name="Picture 4" descr="graph_33.png">
            <a:extLst>
              <a:ext uri="{FF2B5EF4-FFF2-40B4-BE49-F238E27FC236}">
                <a16:creationId xmlns:a16="http://schemas.microsoft.com/office/drawing/2014/main" id="{7DCB6EB0-D01A-4A74-BF43-9BD7B18742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0179" y="3947319"/>
            <a:ext cx="5625871" cy="26490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383883-30B8-465C-8848-BC17DA063A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690" y="1636372"/>
            <a:ext cx="4815490" cy="23877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D8AE644-B860-45E6-B665-777D7ABB86A5}"/>
              </a:ext>
            </a:extLst>
          </p:cNvPr>
          <p:cNvSpPr txBox="1"/>
          <p:nvPr/>
        </p:nvSpPr>
        <p:spPr>
          <a:xfrm>
            <a:off x="1608083" y="567559"/>
            <a:ext cx="97879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✅ KNN → Moderate accuracy &amp; reliable AUC; consistent predictions; key features identified through permutation importance influencing bankruptcy classification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ABA226D-00FF-445A-9CA9-2584FEEF1DA9}"/>
              </a:ext>
            </a:extLst>
          </p:cNvPr>
          <p:cNvCxnSpPr/>
          <p:nvPr/>
        </p:nvCxnSpPr>
        <p:spPr>
          <a:xfrm>
            <a:off x="7798675" y="136634"/>
            <a:ext cx="0" cy="315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5584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29DCF-B0BB-4A90-861F-8C5530409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574" y="25025"/>
            <a:ext cx="4460192" cy="626621"/>
          </a:xfrm>
        </p:spPr>
        <p:txBody>
          <a:bodyPr>
            <a:normAutofit/>
          </a:bodyPr>
          <a:lstStyle/>
          <a:p>
            <a:r>
              <a:rPr lang="en-US" sz="2400" b="1" dirty="0"/>
              <a:t>Gradient Boosting Classifier</a:t>
            </a:r>
          </a:p>
        </p:txBody>
      </p:sp>
      <p:pic>
        <p:nvPicPr>
          <p:cNvPr id="3" name="Picture 2" descr="graph_34.png">
            <a:extLst>
              <a:ext uri="{FF2B5EF4-FFF2-40B4-BE49-F238E27FC236}">
                <a16:creationId xmlns:a16="http://schemas.microsoft.com/office/drawing/2014/main" id="{9B48B10F-EE92-4F20-8AB9-EE11B59EE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380" y="3955443"/>
            <a:ext cx="5201032" cy="2645053"/>
          </a:xfrm>
          <a:prstGeom prst="rect">
            <a:avLst/>
          </a:prstGeom>
        </p:spPr>
      </p:pic>
      <p:pic>
        <p:nvPicPr>
          <p:cNvPr id="4" name="Picture 3" descr="graph_35.png">
            <a:extLst>
              <a:ext uri="{FF2B5EF4-FFF2-40B4-BE49-F238E27FC236}">
                <a16:creationId xmlns:a16="http://schemas.microsoft.com/office/drawing/2014/main" id="{DA06BDAF-B887-4459-A09C-FBBF43C1D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916" y="1664359"/>
            <a:ext cx="5283527" cy="2291081"/>
          </a:xfrm>
          <a:prstGeom prst="rect">
            <a:avLst/>
          </a:prstGeom>
        </p:spPr>
      </p:pic>
      <p:pic>
        <p:nvPicPr>
          <p:cNvPr id="5" name="Picture 4" descr="graph_36.png">
            <a:extLst>
              <a:ext uri="{FF2B5EF4-FFF2-40B4-BE49-F238E27FC236}">
                <a16:creationId xmlns:a16="http://schemas.microsoft.com/office/drawing/2014/main" id="{51024B29-2E17-4F51-9182-23ED5DD0D0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4412" y="3955442"/>
            <a:ext cx="5201032" cy="26450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6F14D2-CDF5-4685-BBE7-08024F1AF1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380" y="1662975"/>
            <a:ext cx="5201032" cy="22924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BFA856-0D58-4239-A9FD-7E76CEB63E9D}"/>
              </a:ext>
            </a:extLst>
          </p:cNvPr>
          <p:cNvSpPr txBox="1"/>
          <p:nvPr/>
        </p:nvSpPr>
        <p:spPr>
          <a:xfrm>
            <a:off x="1671145" y="546538"/>
            <a:ext cx="96242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✅ Gradient Boosting → High accuracy &amp; excellent AUC; minimizes errors via sequential learning; key financial features drive strong bankruptcy predictions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0601433-F80B-474D-A462-4421CF1D0096}"/>
              </a:ext>
            </a:extLst>
          </p:cNvPr>
          <p:cNvCxnSpPr/>
          <p:nvPr/>
        </p:nvCxnSpPr>
        <p:spPr>
          <a:xfrm>
            <a:off x="8208579" y="157655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DCF09-2C84-48D3-8E4D-21E201291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2770" y="4005"/>
            <a:ext cx="3903144" cy="679173"/>
          </a:xfrm>
        </p:spPr>
        <p:txBody>
          <a:bodyPr>
            <a:normAutofit/>
          </a:bodyPr>
          <a:lstStyle/>
          <a:p>
            <a:r>
              <a:rPr lang="en-US" sz="2800" b="1" dirty="0"/>
              <a:t>XG-Boost Classifier</a:t>
            </a:r>
          </a:p>
        </p:txBody>
      </p:sp>
      <p:pic>
        <p:nvPicPr>
          <p:cNvPr id="3" name="Picture 2" descr="graph_37.png">
            <a:extLst>
              <a:ext uri="{FF2B5EF4-FFF2-40B4-BE49-F238E27FC236}">
                <a16:creationId xmlns:a16="http://schemas.microsoft.com/office/drawing/2014/main" id="{A9ABB8D0-1D35-4F08-9ACE-E4BF01310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208" y="3964288"/>
            <a:ext cx="4925315" cy="2590800"/>
          </a:xfrm>
          <a:prstGeom prst="rect">
            <a:avLst/>
          </a:prstGeom>
        </p:spPr>
      </p:pic>
      <p:pic>
        <p:nvPicPr>
          <p:cNvPr id="4" name="Picture 3" descr="graph_38.png">
            <a:extLst>
              <a:ext uri="{FF2B5EF4-FFF2-40B4-BE49-F238E27FC236}">
                <a16:creationId xmlns:a16="http://schemas.microsoft.com/office/drawing/2014/main" id="{4B44B06A-FE30-4241-A0CC-C25A255AF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851" y="1582492"/>
            <a:ext cx="5710763" cy="2590114"/>
          </a:xfrm>
          <a:prstGeom prst="rect">
            <a:avLst/>
          </a:prstGeom>
        </p:spPr>
      </p:pic>
      <p:pic>
        <p:nvPicPr>
          <p:cNvPr id="5" name="Picture 4" descr="graph_39.png">
            <a:extLst>
              <a:ext uri="{FF2B5EF4-FFF2-40B4-BE49-F238E27FC236}">
                <a16:creationId xmlns:a16="http://schemas.microsoft.com/office/drawing/2014/main" id="{FEC3B032-E67D-43B8-9260-142F64EBD0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0852" y="4172606"/>
            <a:ext cx="5710763" cy="23824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C3A17D-E0F2-491C-BDDB-64A9FBB07D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209" y="1582492"/>
            <a:ext cx="4925315" cy="238772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DD911F2-20D1-414D-94E3-8FC3A8F89C00}"/>
              </a:ext>
            </a:extLst>
          </p:cNvPr>
          <p:cNvSpPr txBox="1"/>
          <p:nvPr/>
        </p:nvSpPr>
        <p:spPr>
          <a:xfrm>
            <a:off x="1650124" y="609608"/>
            <a:ext cx="97746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✅ </a:t>
            </a:r>
            <a:r>
              <a:rPr lang="en-US" dirty="0" err="1"/>
              <a:t>XGBoost</a:t>
            </a:r>
            <a:r>
              <a:rPr lang="en-US" dirty="0"/>
              <a:t> → Highest accuracy &amp; AUC; excellent predictive power &amp; efficiency; captures complex patterns; key financial indicators strongly influence bankruptcy prediction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65CBD8-8B48-429B-BA82-456957E2215F}"/>
              </a:ext>
            </a:extLst>
          </p:cNvPr>
          <p:cNvCxnSpPr/>
          <p:nvPr/>
        </p:nvCxnSpPr>
        <p:spPr>
          <a:xfrm>
            <a:off x="7168055" y="126124"/>
            <a:ext cx="0" cy="325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58718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7881" y="-13561"/>
            <a:ext cx="3114868" cy="549590"/>
          </a:xfrm>
        </p:spPr>
        <p:txBody>
          <a:bodyPr>
            <a:normAutofit/>
          </a:bodyPr>
          <a:lstStyle/>
          <a:p>
            <a:r>
              <a:rPr lang="en-US" sz="2400" b="1" dirty="0"/>
              <a:t>Model Comparison</a:t>
            </a:r>
            <a:endParaRPr sz="2400" b="1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00534BD-F39C-448A-893B-2329FFA352B2}"/>
              </a:ext>
            </a:extLst>
          </p:cNvPr>
          <p:cNvCxnSpPr/>
          <p:nvPr/>
        </p:nvCxnSpPr>
        <p:spPr>
          <a:xfrm>
            <a:off x="7840715" y="117247"/>
            <a:ext cx="0" cy="324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3">
            <a:extLst>
              <a:ext uri="{FF2B5EF4-FFF2-40B4-BE49-F238E27FC236}">
                <a16:creationId xmlns:a16="http://schemas.microsoft.com/office/drawing/2014/main" id="{9D7B6A58-62EE-4E76-A843-5B887EAB2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530" y="905856"/>
            <a:ext cx="1032849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✅ </a:t>
            </a:r>
            <a:r>
              <a:rPr lang="en-US" b="1" dirty="0"/>
              <a:t>Model Evaluation Metrics →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Accuracy &amp; CV Score:</a:t>
            </a:r>
            <a:r>
              <a:rPr lang="en-US" dirty="0"/>
              <a:t> Indicate how well each model predicts bankruptcy (higher = better generalization &amp; reliability).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AUC:</a:t>
            </a:r>
            <a:r>
              <a:rPr lang="en-US" dirty="0"/>
              <a:t> Measures model’s ability to separate bankrupt vs. non-bankrupt firms (closer to 1 = stronger performance).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Comparison Table (results_df):</a:t>
            </a:r>
            <a:r>
              <a:rPr lang="en-US" dirty="0"/>
              <a:t> Summarizes Accuracy, CV Score &amp; AUC for all models to spot the top performer.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Bar Chart:</a:t>
            </a:r>
            <a:r>
              <a:rPr lang="en-US" dirty="0"/>
              <a:t> Visually ranks models by accuracy, clearly highlighting the best-performing one.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B06EF4C-9393-4CC2-9DE3-76B96BEFE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987" y="3331779"/>
            <a:ext cx="5155340" cy="331437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223783E-719B-4EF1-8DB3-2E3DE8568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9327" y="3331780"/>
            <a:ext cx="6083613" cy="33143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733C7-7425-4640-9836-EE7CA0F1E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8702" y="35536"/>
            <a:ext cx="3114868" cy="679173"/>
          </a:xfrm>
        </p:spPr>
        <p:txBody>
          <a:bodyPr>
            <a:normAutofit/>
          </a:bodyPr>
          <a:lstStyle/>
          <a:p>
            <a:r>
              <a:rPr lang="en-US" sz="2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Model Evaluation</a:t>
            </a:r>
            <a:endParaRPr lang="en-US" sz="4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F86FFF-3AA3-41E2-A375-CBBC26F41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521" y="2564525"/>
            <a:ext cx="5235739" cy="38888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3F2EE5-DF8B-4700-9F84-CF48032CB3E0}"/>
              </a:ext>
            </a:extLst>
          </p:cNvPr>
          <p:cNvSpPr txBox="1"/>
          <p:nvPr/>
        </p:nvSpPr>
        <p:spPr>
          <a:xfrm>
            <a:off x="1629105" y="882871"/>
            <a:ext cx="99391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✅ Model Comparison &amp; Selection → Multiple models evaluated (Accuracy, AUC, CV Score); Random Forest achieved best results (100% Accuracy &amp; 1.00 AUC) with balanced predictions; key factors — Management &amp; Operating Risk; selected for final deployment &amp; optimization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C6E90E-2283-4993-BBF1-87C5C2545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352" y="2564525"/>
            <a:ext cx="5737059" cy="388882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752D855-C4A3-4A0E-8C40-5BD16D9EE224}"/>
              </a:ext>
            </a:extLst>
          </p:cNvPr>
          <p:cNvCxnSpPr/>
          <p:nvPr/>
        </p:nvCxnSpPr>
        <p:spPr>
          <a:xfrm>
            <a:off x="7903779" y="147145"/>
            <a:ext cx="0" cy="367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1674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4204" y="-17021"/>
            <a:ext cx="3703450" cy="710704"/>
          </a:xfrm>
        </p:spPr>
        <p:txBody>
          <a:bodyPr>
            <a:normAutofit/>
          </a:bodyPr>
          <a:lstStyle/>
          <a:p>
            <a:r>
              <a:rPr lang="en-US" sz="2800" b="1" dirty="0"/>
              <a:t>Model Interpretation</a:t>
            </a:r>
            <a:endParaRPr sz="2800" b="1" dirty="0"/>
          </a:p>
        </p:txBody>
      </p:sp>
      <p:pic>
        <p:nvPicPr>
          <p:cNvPr id="3" name="Picture 2" descr="img_cell43_out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0896" y="1818976"/>
            <a:ext cx="5694333" cy="44755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18593" y="840830"/>
            <a:ext cx="99532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lang="en-US" sz="1600" dirty="0">
                <a:latin typeface="+mj-lt"/>
              </a:rPr>
              <a:t>✅ SHAP Analysis → Explains Random Forest predictions; key drivers — Management, Operating Risk &amp; Financial Structure ↑ bankruptcy, Credibility &amp; Competitiveness ↓ bankruptcy; enhances model transparency &amp; interpretability</a:t>
            </a:r>
            <a:endParaRPr sz="1600" dirty="0">
              <a:latin typeface="+mj-lt"/>
            </a:endParaRPr>
          </a:p>
        </p:txBody>
      </p:sp>
      <p:pic>
        <p:nvPicPr>
          <p:cNvPr id="6" name="Picture 5" descr="img_cell43_out1.png">
            <a:extLst>
              <a:ext uri="{FF2B5EF4-FFF2-40B4-BE49-F238E27FC236}">
                <a16:creationId xmlns:a16="http://schemas.microsoft.com/office/drawing/2014/main" id="{4D37A262-82BB-4451-AFA5-15FF33655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96" y="1818975"/>
            <a:ext cx="5487300" cy="447556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3030587-A9D3-498D-A310-2E572AD24528}"/>
              </a:ext>
            </a:extLst>
          </p:cNvPr>
          <p:cNvCxnSpPr/>
          <p:nvPr/>
        </p:nvCxnSpPr>
        <p:spPr>
          <a:xfrm>
            <a:off x="7924800" y="136634"/>
            <a:ext cx="0" cy="325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595F8-4E9D-4841-8AC8-BA3A10C4A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577" y="50370"/>
            <a:ext cx="6103516" cy="66680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Arial" panose="020B0604020202020204" pitchFamily="34" charset="0"/>
              </a:rPr>
              <a:t>Streamlit Dashboard Demo </a:t>
            </a:r>
            <a:br>
              <a:rPr lang="en-US" sz="3600" b="1" dirty="0"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FED149-4ADC-4332-B7F6-AFD72E025F1C}"/>
              </a:ext>
            </a:extLst>
          </p:cNvPr>
          <p:cNvSpPr txBox="1"/>
          <p:nvPr/>
        </p:nvSpPr>
        <p:spPr>
          <a:xfrm>
            <a:off x="507834" y="1316000"/>
            <a:ext cx="109484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✅ Web App Dashboard → Users select financial factors to view bankruptcy probability; shows status (Bankrupt/Non-Bankrupt) with confidence % and an interactive pie chart for clear visualization</a:t>
            </a:r>
            <a:endParaRPr lang="en-US" sz="18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1EA9C63-286B-4B02-B181-B227F0B55156}"/>
              </a:ext>
            </a:extLst>
          </p:cNvPr>
          <p:cNvCxnSpPr/>
          <p:nvPr/>
        </p:nvCxnSpPr>
        <p:spPr>
          <a:xfrm>
            <a:off x="8944306" y="231225"/>
            <a:ext cx="0" cy="3258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39303FF-E3AD-44D0-A4AF-9F9DFB2325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2" y="2652720"/>
            <a:ext cx="5542870" cy="36319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3B0FF4-3A6E-43A1-876D-D3A854182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543" y="2652720"/>
            <a:ext cx="5430511" cy="363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152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8187" y="25026"/>
            <a:ext cx="3177937" cy="542533"/>
          </a:xfrm>
        </p:spPr>
        <p:txBody>
          <a:bodyPr>
            <a:normAutofit/>
          </a:bodyPr>
          <a:lstStyle/>
          <a:p>
            <a:r>
              <a:rPr lang="en-US" sz="2800" b="1" dirty="0"/>
              <a:t>Final Conclusion</a:t>
            </a:r>
            <a:endParaRPr sz="2800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69B5382-ABFD-47F6-BCDB-D07B3B0600AA}"/>
              </a:ext>
            </a:extLst>
          </p:cNvPr>
          <p:cNvCxnSpPr/>
          <p:nvPr/>
        </p:nvCxnSpPr>
        <p:spPr>
          <a:xfrm>
            <a:off x="7620000" y="115614"/>
            <a:ext cx="0" cy="357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02A77A1-4789-487D-B325-848A62424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992750"/>
              </p:ext>
            </p:extLst>
          </p:nvPr>
        </p:nvGraphicFramePr>
        <p:xfrm>
          <a:off x="1546146" y="679177"/>
          <a:ext cx="10590914" cy="3221446"/>
        </p:xfrm>
        <a:graphic>
          <a:graphicData uri="http://schemas.openxmlformats.org/drawingml/2006/table">
            <a:tbl>
              <a:tblPr/>
              <a:tblGrid>
                <a:gridCol w="3744297">
                  <a:extLst>
                    <a:ext uri="{9D8B030D-6E8A-4147-A177-3AD203B41FA5}">
                      <a16:colId xmlns:a16="http://schemas.microsoft.com/office/drawing/2014/main" val="817411439"/>
                    </a:ext>
                  </a:extLst>
                </a:gridCol>
                <a:gridCol w="6846617">
                  <a:extLst>
                    <a:ext uri="{9D8B030D-6E8A-4147-A177-3AD203B41FA5}">
                      <a16:colId xmlns:a16="http://schemas.microsoft.com/office/drawing/2014/main" val="3683880177"/>
                    </a:ext>
                  </a:extLst>
                </a:gridCol>
              </a:tblGrid>
              <a:tr h="750233">
                <a:tc>
                  <a:txBody>
                    <a:bodyPr/>
                    <a:lstStyle/>
                    <a:p>
                      <a:r>
                        <a:rPr lang="en-US" sz="1600" b="1" dirty="0"/>
                        <a:t>1.Exploratory Data Analysis (EDA)</a:t>
                      </a:r>
                      <a:endParaRPr lang="en-US" sz="1600" dirty="0"/>
                    </a:p>
                  </a:txBody>
                  <a:tcPr marL="50492" marR="50492" marT="25246" marB="252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Data cleaning, statistical summary, and visualization helped identify patterns and relationships between financial indicators and bankruptcy outcomes. No major missing values after preprocessing.</a:t>
                      </a:r>
                    </a:p>
                  </a:txBody>
                  <a:tcPr marL="50492" marR="50492" marT="25246" marB="252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2991491"/>
                  </a:ext>
                </a:extLst>
              </a:tr>
              <a:tr h="767255">
                <a:tc>
                  <a:txBody>
                    <a:bodyPr/>
                    <a:lstStyle/>
                    <a:p>
                      <a:r>
                        <a:rPr lang="en-US" sz="1600" b="1" dirty="0"/>
                        <a:t>2.Model Building &amp; Evaluation</a:t>
                      </a:r>
                      <a:endParaRPr lang="en-US" sz="1600" dirty="0"/>
                    </a:p>
                  </a:txBody>
                  <a:tcPr marL="50492" marR="50492" marT="25246" marB="252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Multiple ML algorithms were trained (Logistic Regression, SVM, KNN, Decision Tree, Random Forest, Gradient Boosting, XG-Boost). Random Forest achieved the </a:t>
                      </a:r>
                      <a:r>
                        <a:rPr lang="en-US" sz="1400" b="1" dirty="0"/>
                        <a:t>highest accuracy (100%)</a:t>
                      </a:r>
                      <a:r>
                        <a:rPr lang="en-US" sz="1400" dirty="0"/>
                        <a:t> and stable cross-validation score (1.0).</a:t>
                      </a:r>
                    </a:p>
                  </a:txBody>
                  <a:tcPr marL="50492" marR="50492" marT="25246" marB="252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7640521"/>
                  </a:ext>
                </a:extLst>
              </a:tr>
              <a:tr h="483476">
                <a:tc>
                  <a:txBody>
                    <a:bodyPr/>
                    <a:lstStyle/>
                    <a:p>
                      <a:r>
                        <a:rPr lang="en-US" sz="1600" b="1" dirty="0"/>
                        <a:t>3.Model Interpretation (SHAP Analysis)</a:t>
                      </a:r>
                      <a:endParaRPr lang="en-US" sz="1600" dirty="0"/>
                    </a:p>
                  </a:txBody>
                  <a:tcPr marL="50492" marR="50492" marT="25246" marB="252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SHAP values revealed that features like </a:t>
                      </a:r>
                      <a:r>
                        <a:rPr lang="en-US" sz="1400" b="1" dirty="0"/>
                        <a:t>Management Risk, Financial Structure, and Operating Risk</a:t>
                      </a:r>
                      <a:r>
                        <a:rPr lang="en-US" sz="1400" dirty="0"/>
                        <a:t> had the most significant influence on bankruptcy predictions.</a:t>
                      </a:r>
                    </a:p>
                  </a:txBody>
                  <a:tcPr marL="50492" marR="50492" marT="25246" marB="252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0333972"/>
                  </a:ext>
                </a:extLst>
              </a:tr>
              <a:tr h="1013386">
                <a:tc>
                  <a:txBody>
                    <a:bodyPr/>
                    <a:lstStyle/>
                    <a:p>
                      <a:r>
                        <a:rPr lang="en-US" sz="1600" b="1" dirty="0"/>
                        <a:t>4.Deployment (Streamlit App)</a:t>
                      </a:r>
                      <a:endParaRPr lang="en-US" sz="1600" dirty="0"/>
                    </a:p>
                  </a:txBody>
                  <a:tcPr marL="50492" marR="50492" marT="25246" marB="252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Web App Dashboard </a:t>
                      </a:r>
                      <a:r>
                        <a:rPr lang="en-US" sz="1400" b="0" dirty="0"/>
                        <a:t>→ Users select financial factors to view bankruptcy probability; shows status </a:t>
                      </a:r>
                      <a:r>
                        <a:rPr lang="en-US" sz="1400" b="1" dirty="0"/>
                        <a:t>(Bankrupt/Non-Bankrupt) </a:t>
                      </a:r>
                      <a:r>
                        <a:rPr lang="en-US" sz="1400" b="0" dirty="0"/>
                        <a:t>with confidence % and an interactive gauge chart for clear visualization</a:t>
                      </a:r>
                    </a:p>
                  </a:txBody>
                  <a:tcPr marL="50492" marR="50492" marT="25246" marB="2524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1975622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BCB7B2B-9C26-4A7E-9EA2-22D2E829E516}"/>
              </a:ext>
            </a:extLst>
          </p:cNvPr>
          <p:cNvSpPr txBox="1"/>
          <p:nvPr/>
        </p:nvSpPr>
        <p:spPr>
          <a:xfrm>
            <a:off x="1534886" y="3746561"/>
            <a:ext cx="1003700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Best Model:</a:t>
            </a:r>
            <a:r>
              <a:rPr lang="en-US" sz="1600" dirty="0"/>
              <a:t> Random Forest Classifier</a:t>
            </a:r>
            <a:br>
              <a:rPr lang="en-US" sz="1600" dirty="0"/>
            </a:br>
            <a:r>
              <a:rPr lang="en-US" sz="1600" b="1" dirty="0"/>
              <a:t>Accuracy:</a:t>
            </a:r>
            <a:r>
              <a:rPr lang="en-US" sz="1600" dirty="0"/>
              <a:t> 100% (CV Score: 1.0, AUC: 1.0)</a:t>
            </a:r>
            <a:br>
              <a:rPr lang="en-US" sz="1600" dirty="0"/>
            </a:br>
            <a:r>
              <a:rPr lang="en-US" sz="1600" b="1" dirty="0"/>
              <a:t>Interpretability:</a:t>
            </a:r>
            <a:r>
              <a:rPr lang="en-US" sz="1600" dirty="0"/>
              <a:t> Transparent and explainable using SHAP</a:t>
            </a:r>
            <a:br>
              <a:rPr lang="en-US" sz="1600" dirty="0"/>
            </a:br>
            <a:r>
              <a:rPr lang="en-US" sz="1600" b="1" dirty="0"/>
              <a:t>Practical Use:</a:t>
            </a:r>
            <a:r>
              <a:rPr lang="en-US" sz="1600" dirty="0"/>
              <a:t> Deployed Streamlit app can assist businesses and financial analysts in risk assessment and decision-making.</a:t>
            </a: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A7C1A46E-49A0-4ECF-A7D9-552B15885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4885" y="5228190"/>
            <a:ext cx="10025743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Random Forest model successfully predicts bankruptcy with perfect accuracy and interpretability.</a:t>
            </a:r>
            <a:b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SHAP analysis ensures transparency in decision-making, and the Streamlit app makes the solution user-friendly and business-ready.</a:t>
            </a:r>
            <a:b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demonstrates how data science and machine learning can effectively support financial risk management and early warning systems.                                                                                                                            </a:t>
            </a:r>
            <a:r>
              <a:rPr lang="en-US" sz="1400" dirty="0"/>
              <a:t> </a:t>
            </a: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1B5BD-0B5F-4E89-A7F7-7D67A490F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2275" y="140639"/>
            <a:ext cx="3335584" cy="73172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Future Scope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DD6C5B-E83D-42E5-9301-EA4862B6F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935" y="1545021"/>
            <a:ext cx="10828954" cy="48768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📊 </a:t>
            </a:r>
            <a:r>
              <a:rPr lang="en-US" sz="2900" b="1" dirty="0"/>
              <a:t>Expand Dataset:</a:t>
            </a:r>
            <a:br>
              <a:rPr lang="en-US" sz="2900" dirty="0"/>
            </a:br>
            <a:r>
              <a:rPr lang="en-US" sz="2900" dirty="0"/>
              <a:t>Include more financial indicators and data from different industries to improve model generalization.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🤖 </a:t>
            </a:r>
            <a:r>
              <a:rPr lang="en-US" sz="2900" b="1" dirty="0"/>
              <a:t>Advanced Algorithms:</a:t>
            </a:r>
            <a:br>
              <a:rPr lang="en-US" sz="2900" dirty="0"/>
            </a:br>
            <a:r>
              <a:rPr lang="en-US" sz="2900" dirty="0"/>
              <a:t>Experiment with deep learning models (e.g., LSTM or ANN) for more complex financial pattern recognition.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⚙️ </a:t>
            </a:r>
            <a:r>
              <a:rPr lang="en-US" sz="2900" b="1" dirty="0"/>
              <a:t>Automated Data Pipeline:</a:t>
            </a:r>
            <a:br>
              <a:rPr lang="en-US" sz="2900" dirty="0"/>
            </a:br>
            <a:r>
              <a:rPr lang="en-US" sz="2900" dirty="0"/>
              <a:t>Integrate automated data collection and real-time financial updates from APIs or company databases.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📈 </a:t>
            </a:r>
            <a:r>
              <a:rPr lang="en-US" sz="2900" b="1" dirty="0"/>
              <a:t>Model Optimization:</a:t>
            </a:r>
            <a:br>
              <a:rPr lang="en-US" sz="2900" dirty="0"/>
            </a:br>
            <a:r>
              <a:rPr lang="en-US" sz="2900" dirty="0"/>
              <a:t>Apply advanced hyperparameter tuning and feature selection techniques to further enhance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🌐 </a:t>
            </a:r>
            <a:r>
              <a:rPr lang="en-US" sz="2900" b="1" dirty="0"/>
              <a:t>Deployment Enhancement:</a:t>
            </a:r>
            <a:br>
              <a:rPr lang="en-US" sz="2900" dirty="0"/>
            </a:br>
            <a:r>
              <a:rPr lang="en-US" sz="2900" dirty="0"/>
              <a:t>Upgrade Streamlit app with database integration, authentication, and cloud deployment (AWS/GCP).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🧠 </a:t>
            </a:r>
            <a:r>
              <a:rPr lang="en-US" sz="2900" b="1" dirty="0"/>
              <a:t>Explainability Tools:</a:t>
            </a:r>
            <a:br>
              <a:rPr lang="en-US" sz="2900" dirty="0"/>
            </a:br>
            <a:r>
              <a:rPr lang="en-US" sz="2900" dirty="0"/>
              <a:t>Extend SHAP/LIME visualizations for end-users to understand how each financial factor drives predictions.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900" dirty="0"/>
              <a:t>💼 </a:t>
            </a:r>
            <a:r>
              <a:rPr lang="en-US" sz="2900" b="1" dirty="0"/>
              <a:t>Business Integration:</a:t>
            </a:r>
            <a:br>
              <a:rPr lang="en-US" sz="2900" dirty="0"/>
            </a:br>
            <a:r>
              <a:rPr lang="en-US" sz="2900" dirty="0"/>
              <a:t>Deploy as a </a:t>
            </a:r>
            <a:r>
              <a:rPr lang="en-US" sz="2900" b="1" dirty="0"/>
              <a:t>decision-support tool</a:t>
            </a:r>
            <a:r>
              <a:rPr lang="en-US" sz="2900" dirty="0"/>
              <a:t> for financial institutions, auditors, and investors for early bankruptcy warnings.</a:t>
            </a:r>
          </a:p>
          <a:p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76A3AA0-FDF4-4D39-AFF7-B74E1AC97C76}"/>
              </a:ext>
            </a:extLst>
          </p:cNvPr>
          <p:cNvCxnSpPr>
            <a:cxnSpLocks/>
          </p:cNvCxnSpPr>
          <p:nvPr/>
        </p:nvCxnSpPr>
        <p:spPr>
          <a:xfrm>
            <a:off x="7409794" y="304801"/>
            <a:ext cx="0" cy="3573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32957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6C0501-8557-47B4-8C02-326194664D73}"/>
              </a:ext>
            </a:extLst>
          </p:cNvPr>
          <p:cNvSpPr/>
          <p:nvPr/>
        </p:nvSpPr>
        <p:spPr>
          <a:xfrm>
            <a:off x="2133601" y="2967334"/>
            <a:ext cx="753291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1043</TotalTime>
  <Words>1372</Words>
  <Application>Microsoft Office PowerPoint</Application>
  <PresentationFormat>Custom</PresentationFormat>
  <Paragraphs>91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Algerian</vt:lpstr>
      <vt:lpstr>Arial</vt:lpstr>
      <vt:lpstr>Century Gothic</vt:lpstr>
      <vt:lpstr>Wingdings 3</vt:lpstr>
      <vt:lpstr>Wisp</vt:lpstr>
      <vt:lpstr>🏦 Bankruptcy Prediction Using Machine Learning</vt:lpstr>
      <vt:lpstr>CONTENTS </vt:lpstr>
      <vt:lpstr>Problem Statement &amp; Objective</vt:lpstr>
      <vt:lpstr>Exploratory Data  Analysis (EDA)</vt:lpstr>
      <vt:lpstr>Bankruptcy vs Non-Bankruptcy (Counts)</vt:lpstr>
      <vt:lpstr>Feature Distribution by Bankruptcy Class</vt:lpstr>
      <vt:lpstr>Feature Correlation (Including Target)</vt:lpstr>
      <vt:lpstr>✅ Coefficient Table → Displays each financial factor’s impact on bankruptcy (positive = higher risk, negative = lower risk)</vt:lpstr>
      <vt:lpstr>Model Building</vt:lpstr>
      <vt:lpstr>Logistic Regression Model Evaluation</vt:lpstr>
      <vt:lpstr>✅ Decision Tree → Strong accuracy &amp; clear class separation; balanced predictions; key factors — Management &amp; Operating Risk ↑ bankruptcy, Credibility &amp; Competitiveness ↓ bankruptcy</vt:lpstr>
      <vt:lpstr>Random Forest Classifier</vt:lpstr>
      <vt:lpstr>Support Vector Machine (SVM)</vt:lpstr>
      <vt:lpstr>K-Nearest Neighbors (KNN)</vt:lpstr>
      <vt:lpstr>Gradient Boosting Classifier</vt:lpstr>
      <vt:lpstr>XG-Boost Classifier</vt:lpstr>
      <vt:lpstr>Model Comparison</vt:lpstr>
      <vt:lpstr>Model Evaluation</vt:lpstr>
      <vt:lpstr>Model Interpretation</vt:lpstr>
      <vt:lpstr>Streamlit Dashboard Demo  </vt:lpstr>
      <vt:lpstr>Final Conclusion</vt:lpstr>
      <vt:lpstr>Future Scope 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🏦 Bankruptcy Prediction using Machine Learning</dc:title>
  <dc:subject/>
  <dc:creator/>
  <cp:keywords/>
  <dc:description>generated using python-pptx</dc:description>
  <cp:lastModifiedBy>amitraychoudhury503@gmail.com</cp:lastModifiedBy>
  <cp:revision>19</cp:revision>
  <dcterms:created xsi:type="dcterms:W3CDTF">2013-01-27T09:14:16Z</dcterms:created>
  <dcterms:modified xsi:type="dcterms:W3CDTF">2025-11-05T01:26:49Z</dcterms:modified>
  <cp:category/>
</cp:coreProperties>
</file>